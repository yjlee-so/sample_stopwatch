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D97A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PIZZA FRANCHISE PERFORMANCE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6F3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피자 프랜차이즈</a:t>
            </a:r>
            <a:endParaRPr lang="en-US" sz="50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6F3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실적 분석 브리핑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12800" y="2804120"/>
            <a:ext cx="81756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9개 매장 · 2020년 1월~2026년 8월 실적 데이터 탐색적 분석(EDA)과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사건로그 대조 검증으로 도출한 경영진 의사결정 시사점 5가지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49640"/>
            <a:ext cx="441228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E92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매출데이터 4,326행 → 매장·월 720건 정제 · 사건로그 39건 대조 검증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65717" y="5849640"/>
            <a:ext cx="156428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E92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2026.09 · 경영진 브리핑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데이터가 가리키는 5가지 의사결정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446536"/>
            <a:ext cx="10566400" cy="0"/>
          </a:xfrm>
          <a:prstGeom prst="line">
            <a:avLst/>
          </a:prstGeom>
          <a:noFill/>
          <a:ln w="6350">
            <a:solidFill>
              <a:srgbClr val="E3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35361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1440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73200" y="1984276"/>
            <a:ext cx="927442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인건비 비중 상승이 2022년 정점 이후 마진 하락을 이끌고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680700" y="1962646"/>
            <a:ext cx="698500" cy="300930"/>
          </a:xfrm>
          <a:prstGeom prst="roundRect">
            <a:avLst>
              <a:gd name="adj" fmla="val 42203"/>
            </a:avLst>
          </a:prstGeom>
          <a:solidFill>
            <a:srgbClr val="F0E6CE"/>
          </a:solidFill>
          <a:ln/>
        </p:spPr>
      </p:sp>
      <p:sp>
        <p:nvSpPr>
          <p:cNvPr id="8" name="Text 6"/>
          <p:cNvSpPr/>
          <p:nvPr/>
        </p:nvSpPr>
        <p:spPr>
          <a:xfrm>
            <a:off x="10655300" y="2019796"/>
            <a:ext cx="7493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A6A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추정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2800" y="3113286"/>
            <a:ext cx="10566400" cy="0"/>
          </a:xfrm>
          <a:prstGeom prst="line">
            <a:avLst/>
          </a:prstGeom>
          <a:noFill/>
          <a:ln w="6350">
            <a:solidFill>
              <a:srgbClr val="E3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602111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1440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73200" y="2651026"/>
            <a:ext cx="927442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광주 충장로점, 점주 승계 이후 마진이 전사 최저로 붕괴했다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680700" y="2629396"/>
            <a:ext cx="698500" cy="300930"/>
          </a:xfrm>
          <a:prstGeom prst="roundRect">
            <a:avLst>
              <a:gd name="adj" fmla="val 42203"/>
            </a:avLst>
          </a:prstGeom>
          <a:solidFill>
            <a:srgbClr val="DCEA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655300" y="2686546"/>
            <a:ext cx="7493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800" y="3780036"/>
            <a:ext cx="10566400" cy="0"/>
          </a:xfrm>
          <a:prstGeom prst="line">
            <a:avLst/>
          </a:prstGeom>
          <a:noFill/>
          <a:ln w="6350">
            <a:solidFill>
              <a:srgbClr val="E3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268861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1440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73200" y="3317776"/>
            <a:ext cx="927442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제주 연동점, 반복되는 인력 이탈이 위생과 수익성을 함께 흔든다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0680700" y="3296146"/>
            <a:ext cx="698500" cy="300930"/>
          </a:xfrm>
          <a:prstGeom prst="roundRect">
            <a:avLst>
              <a:gd name="adj" fmla="val 42203"/>
            </a:avLst>
          </a:prstGeom>
          <a:solidFill>
            <a:srgbClr val="DCEA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655300" y="3353296"/>
            <a:ext cx="7493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800" y="4446786"/>
            <a:ext cx="10566400" cy="0"/>
          </a:xfrm>
          <a:prstGeom prst="line">
            <a:avLst/>
          </a:prstGeom>
          <a:noFill/>
          <a:ln w="6350">
            <a:solidFill>
              <a:srgbClr val="E3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935611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1440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73200" y="3984526"/>
            <a:ext cx="927442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자사앱 성장이 배달앱 수수료 인상 충격을 상쇄했다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680700" y="3962896"/>
            <a:ext cx="698500" cy="300930"/>
          </a:xfrm>
          <a:prstGeom prst="roundRect">
            <a:avLst>
              <a:gd name="adj" fmla="val 42203"/>
            </a:avLst>
          </a:prstGeom>
          <a:solidFill>
            <a:srgbClr val="DCEAE5"/>
          </a:solidFill>
          <a:ln/>
        </p:spPr>
      </p:sp>
      <p:sp>
        <p:nvSpPr>
          <p:cNvPr id="23" name="Text 21"/>
          <p:cNvSpPr/>
          <p:nvPr/>
        </p:nvSpPr>
        <p:spPr>
          <a:xfrm>
            <a:off x="10655300" y="4020046"/>
            <a:ext cx="7493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2800" y="4602361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1440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73200" y="4651276"/>
            <a:ext cx="927442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쿠폰 투자는 계속 느는데 재방문율은 5년째 제자리다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0680700" y="4629646"/>
            <a:ext cx="698500" cy="300930"/>
          </a:xfrm>
          <a:prstGeom prst="roundRect">
            <a:avLst>
              <a:gd name="adj" fmla="val 42203"/>
            </a:avLst>
          </a:prstGeom>
          <a:solidFill>
            <a:srgbClr val="DCEAE5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5300" y="4686796"/>
            <a:ext cx="7493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2800" y="6256040"/>
            <a:ext cx="561297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매출데이터(매장·월 720건 정제) · 사건로그 39건 대조 — 색상은 사건로그 확인 여부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36697" y="6256040"/>
            <a:ext cx="39330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 01 · 수익성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영업이익률이 2022년 정점 이후 3년째 하락했다</a:t>
            </a:r>
            <a:endParaRPr lang="en-US" sz="2300" dirty="0"/>
          </a:p>
        </p:txBody>
      </p:sp>
      <p:pic>
        <p:nvPicPr>
          <p:cNvPr id="4" name="Image 0" descr="연도별 영업이익률 라인 차트: 2020년 16.3%에서 2022년 18.4%로 상승 후 2025년 17.0%까지 하락, 2026년 17.3%로 소폭 반등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800" y="2093119"/>
            <a:ext cx="6858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900" y="2452489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16.3%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04616" y="3013869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17.5%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03835" y="2466479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18.4% 정점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57650" y="2790924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17.9%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84366" y="3305274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17.0%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856585" y="3684389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17.0% 최저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83400" y="3133824"/>
            <a:ext cx="1066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17.3% 반등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77900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04616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30835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57650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84366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10585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7400" y="52681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2026*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57300" y="5458619"/>
            <a:ext cx="25070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전사 평균 영업이익률(%), *2026년은 1~8월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486775" y="2096294"/>
            <a:ext cx="2889250" cy="1296591"/>
          </a:xfrm>
          <a:prstGeom prst="roundRect">
            <a:avLst>
              <a:gd name="adj" fmla="val 7591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18550" y="230266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인건비 비중(매출 대비)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718550" y="2549029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24.4% → 29.2%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718550" y="2973189"/>
            <a:ext cx="2498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+4.8%p · 2020→2026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86775" y="3551634"/>
            <a:ext cx="2889250" cy="1296591"/>
          </a:xfrm>
          <a:prstGeom prst="roundRect">
            <a:avLst>
              <a:gd name="adj" fmla="val 7591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18550" y="375800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임차료 비중(매출 대비)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718550" y="4004370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5.4% → 3.7%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8718550" y="4428530"/>
            <a:ext cx="2498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-1.7%p · 규모의 경제로 하락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83600" y="5003800"/>
            <a:ext cx="298246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임차료 비중 하락이 인건비 상승을 다 상쇄하지 못해 마진이 눌렸다. 사건로그에 전사 단위 인건비 상승의 명시적 원인은 없어 이 인과관계는 </a:t>
            </a: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추정</a:t>
            </a: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이다.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2800" y="6256040"/>
            <a:ext cx="283663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 매장·월 720건, 연도별 평균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031934" y="6256040"/>
            <a:ext cx="39806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 02 · 매장 리스크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광주 충장로점, 점주 승계 후 마진이 전사 최저로 붕괴했다</a:t>
            </a:r>
            <a:endParaRPr lang="en-US" sz="2300" dirty="0"/>
          </a:p>
        </p:txBody>
      </p:sp>
      <p:pic>
        <p:nvPicPr>
          <p:cNvPr id="4" name="Image 0" descr="광주 충장로점 월별 영업이익률, 2025년 1월부터 2026년 8월까지. 2026년 1월 점주 승계 이후 마진이 20%대에서 12%대로 떨어진 뒤 회복하지 못함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800" y="1751608"/>
            <a:ext cx="6858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41725" y="2341463"/>
            <a:ext cx="1066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23.0% (25.10)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13870" y="1840508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점주 승계(EV-029)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50370" y="4026793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13.3% (26.01)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35166" y="4506218"/>
            <a:ext cx="1193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10.5% (26.03) 최저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56400" y="4153098"/>
            <a:ext cx="1320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12.6% (26.08)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7900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25.01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50641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25.04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22885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25.07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95725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25.10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04370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26.01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77210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26.04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49355" y="4926608"/>
            <a:ext cx="685800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26.07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57300" y="5117108"/>
            <a:ext cx="199413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광주 충장로점 월별 영업이익률(%)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86775" y="1754783"/>
            <a:ext cx="2889250" cy="1634331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18550" y="1961158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2026년(1~8월) 평균 영업이익률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718550" y="2207518"/>
            <a:ext cx="249847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12.6%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718550" y="2756098"/>
            <a:ext cx="24984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9개 매장 중 최저 · 전년 17.3%에서 -4.7%p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486775" y="3547864"/>
            <a:ext cx="2889250" cy="1509911"/>
          </a:xfrm>
          <a:prstGeom prst="roundRect">
            <a:avLst>
              <a:gd name="adj" fmla="val 6519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18550" y="375423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QSC 점수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18550" y="4000599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88.4 → 76.9점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8718550" y="4424759"/>
            <a:ext cx="24984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2025-10 → 2026-01, 위생등급 상시 B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83600" y="5213350"/>
            <a:ext cx="2982468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2026-01-02 점주 2대 승계 후 정규직이 이탈했다(EV-029, </a:t>
            </a: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). SV 집중 관리와 정규직 리텐션 인센티브가 필요하다.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2800" y="6256040"/>
            <a:ext cx="265994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 · 사건로그 EV-029(확인)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032133" y="6256040"/>
            <a:ext cx="39786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 03 · 매장 리스크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제주 연동점, 반복된 인력 이탈이 위생과 수익성을 흔든다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2800" y="2093119"/>
            <a:ext cx="706374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매장별 위생검사 B등급 비율 (2020~2026, 80개월 중)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800" y="2402384"/>
            <a:ext cx="1003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제주 연동점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300" y="239027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7" name="Shape 5"/>
          <p:cNvSpPr/>
          <p:nvPr/>
        </p:nvSpPr>
        <p:spPr>
          <a:xfrm>
            <a:off x="1892300" y="2390279"/>
            <a:ext cx="3905250" cy="228600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/>
        </p:spPr>
      </p:sp>
      <p:sp>
        <p:nvSpPr>
          <p:cNvPr id="8" name="Text 6"/>
          <p:cNvSpPr/>
          <p:nvPr/>
        </p:nvSpPr>
        <p:spPr>
          <a:xfrm>
            <a:off x="7175500" y="2402384"/>
            <a:ext cx="495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75%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273059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광주 충장로점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92300" y="271412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2714129"/>
            <a:ext cx="3514725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5500" y="273059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305444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인천 부평점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92300" y="303797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15" name="Shape 13"/>
          <p:cNvSpPr/>
          <p:nvPr/>
        </p:nvSpPr>
        <p:spPr>
          <a:xfrm>
            <a:off x="1892300" y="3037979"/>
            <a:ext cx="3189288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5500" y="305444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800" y="337829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대전 둔산점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92300" y="336182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92300" y="3361829"/>
            <a:ext cx="3059113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20" name="Text 18"/>
          <p:cNvSpPr/>
          <p:nvPr/>
        </p:nvSpPr>
        <p:spPr>
          <a:xfrm>
            <a:off x="7175500" y="337829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2800" y="370214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수원 영통점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92300" y="368567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23" name="Shape 21"/>
          <p:cNvSpPr/>
          <p:nvPr/>
        </p:nvSpPr>
        <p:spPr>
          <a:xfrm>
            <a:off x="1892300" y="3685679"/>
            <a:ext cx="2798763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24" name="Text 22"/>
          <p:cNvSpPr/>
          <p:nvPr/>
        </p:nvSpPr>
        <p:spPr>
          <a:xfrm>
            <a:off x="7175500" y="370214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54%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800" y="402599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대구 동성로점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92300" y="400952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27" name="Shape 25"/>
          <p:cNvSpPr/>
          <p:nvPr/>
        </p:nvSpPr>
        <p:spPr>
          <a:xfrm>
            <a:off x="1892300" y="4009529"/>
            <a:ext cx="2538413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28" name="Text 26"/>
          <p:cNvSpPr/>
          <p:nvPr/>
        </p:nvSpPr>
        <p:spPr>
          <a:xfrm>
            <a:off x="7175500" y="402599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2800" y="434984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부산 서면점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92300" y="433337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31" name="Shape 29"/>
          <p:cNvSpPr/>
          <p:nvPr/>
        </p:nvSpPr>
        <p:spPr>
          <a:xfrm>
            <a:off x="1892300" y="4333379"/>
            <a:ext cx="2147888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32" name="Text 30"/>
          <p:cNvSpPr/>
          <p:nvPr/>
        </p:nvSpPr>
        <p:spPr>
          <a:xfrm>
            <a:off x="7175500" y="434984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41%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2800" y="467369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서울 홍대점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92300" y="465722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35" name="Shape 33"/>
          <p:cNvSpPr/>
          <p:nvPr/>
        </p:nvSpPr>
        <p:spPr>
          <a:xfrm>
            <a:off x="1892300" y="4657229"/>
            <a:ext cx="1431925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36" name="Text 34"/>
          <p:cNvSpPr/>
          <p:nvPr/>
        </p:nvSpPr>
        <p:spPr>
          <a:xfrm>
            <a:off x="7175500" y="467369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28%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2800" y="4997549"/>
            <a:ext cx="1003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서울 강남점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92300" y="4981079"/>
            <a:ext cx="5207000" cy="22860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</p:sp>
      <p:sp>
        <p:nvSpPr>
          <p:cNvPr id="39" name="Shape 37"/>
          <p:cNvSpPr/>
          <p:nvPr/>
        </p:nvSpPr>
        <p:spPr>
          <a:xfrm>
            <a:off x="1892300" y="4981079"/>
            <a:ext cx="1041400" cy="228600"/>
          </a:xfrm>
          <a:prstGeom prst="roundRect">
            <a:avLst>
              <a:gd name="adj" fmla="val 50000"/>
            </a:avLst>
          </a:prstGeom>
          <a:solidFill>
            <a:srgbClr val="8B96A0"/>
          </a:solidFill>
          <a:ln/>
        </p:spPr>
      </p:sp>
      <p:sp>
        <p:nvSpPr>
          <p:cNvPr id="40" name="Text 38"/>
          <p:cNvSpPr/>
          <p:nvPr/>
        </p:nvSpPr>
        <p:spPr>
          <a:xfrm>
            <a:off x="7175500" y="4997549"/>
            <a:ext cx="495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2800" y="5311279"/>
            <a:ext cx="706374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9개 매장 평균 50%, 제주 연동점은 9개 매장 중 위생 B등급 비율 최고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86775" y="2096294"/>
            <a:ext cx="2889250" cy="1296591"/>
          </a:xfrm>
          <a:prstGeom prst="roundRect">
            <a:avLst>
              <a:gd name="adj" fmla="val 7591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18550" y="230266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정규직원수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18550" y="2549029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3명 → 1.3명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8718550" y="2973189"/>
            <a:ext cx="2498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2024-01 → 2026-04, 반복 이탈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486775" y="3551634"/>
            <a:ext cx="2889250" cy="1296591"/>
          </a:xfrm>
          <a:prstGeom prst="roundRect">
            <a:avLst>
              <a:gd name="adj" fmla="val 7591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18550" y="375800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2026년 8월, 개점 이래 최고 매출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18550" y="4004370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8,474만원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8718550" y="4428530"/>
            <a:ext cx="2498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그런데도 영업이익률은 10.8%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83600" y="5003800"/>
            <a:ext cx="298246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정규직 이탈 → 파트타임 충원 반복이 위생과 마진을 함께 갉아먹는다(EV-017·025·035·039, </a:t>
            </a: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). 제주 상권 특성을 반영한 별도 인력 모델이 필요하다.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2800" y="6256040"/>
            <a:ext cx="358317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 · 사건로그 EV-017/025/035/039(확인)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030446" y="6256040"/>
            <a:ext cx="39955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 04 · 채널 전략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자사앱 성장이 배달앱 수수료 인상 충격을 상쇄했다</a:t>
            </a:r>
            <a:endParaRPr lang="en-US" sz="2300" dirty="0"/>
          </a:p>
        </p:txBody>
      </p:sp>
      <p:pic>
        <p:nvPicPr>
          <p:cNvPr id="4" name="Image 0" descr="연도별 자사앱 주문비중 라인 차트: 2020년 5.6%에서 2026년 31.3%까지 꾸준히 성장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800" y="1874738"/>
            <a:ext cx="6858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900" y="4264819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5.6%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04616" y="394731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9.5%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30835" y="359677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13.8%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57650" y="3305373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17.3%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84366" y="2957413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21.6%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10585" y="2650629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83400" y="2168029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31.3%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7900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04616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30835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57650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84366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10585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7400" y="504973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2026*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57300" y="5240238"/>
            <a:ext cx="280045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전사 평균 자사앱 주문비중(%), *2026년은 1~8월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483600" y="1874738"/>
            <a:ext cx="2895600" cy="1521321"/>
          </a:xfrm>
          <a:prstGeom prst="roundRect">
            <a:avLst>
              <a:gd name="adj" fmla="val 6678"/>
            </a:avLst>
          </a:prstGeom>
          <a:solidFill>
            <a:srgbClr val="1C2B33"/>
          </a:solidFill>
          <a:ln/>
        </p:spPr>
      </p:sp>
      <p:sp>
        <p:nvSpPr>
          <p:cNvPr id="21" name="Text 18"/>
          <p:cNvSpPr/>
          <p:nvPr/>
        </p:nvSpPr>
        <p:spPr>
          <a:xfrm>
            <a:off x="8712200" y="2077938"/>
            <a:ext cx="251155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FD8D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배민 수수료 인상 전후 플랫폼수수료율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712200" y="2324298"/>
            <a:ext cx="251155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6F3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7.03% → 7.03%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712200" y="2766219"/>
            <a:ext cx="25115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A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변화 없음 (2024-11 6.8%→9.8% 인상)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86775" y="3551634"/>
            <a:ext cx="2889250" cy="1296591"/>
          </a:xfrm>
          <a:prstGeom prst="roundRect">
            <a:avLst>
              <a:gd name="adj" fmla="val 7591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18550" y="375800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자사앱 주문비중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718550" y="4004370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5.6% → 31.3%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8718550" y="4428530"/>
            <a:ext cx="24984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2020 → 2026, 6년 연속 성장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83600" y="5003800"/>
            <a:ext cx="298246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배민 수수료 인상(EV-024, </a:t>
            </a: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)에도 전사 수수료율이 그대로였던 건 자사앱 전환이 외부 플랫폼 의존도를 낮춘 덕이다. 자사앱 투자 확대가 근거로 뒷받침된다.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2800" y="6256040"/>
            <a:ext cx="26604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 · 사건로그 EV-024(확인)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032927" y="6256040"/>
            <a:ext cx="39707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 05 · 마케팅 ROI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쿠폰은 계속 늘리는데 재방문율은 5년째 제자리다</a:t>
            </a:r>
            <a:endParaRPr lang="en-US" sz="2300" dirty="0"/>
          </a:p>
        </p:txBody>
      </p:sp>
      <p:pic>
        <p:nvPicPr>
          <p:cNvPr id="4" name="Image 0" descr="연도별 재방문율 라인 차트: 2020년 45.5%에서 2021년 52.7%로 오른 뒤 2026년까지 53% 안팎에서 정체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800" y="1964928"/>
            <a:ext cx="6858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900" y="4263628"/>
            <a:ext cx="558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45.5%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04616" y="2726928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52.7%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30835" y="26761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53.2%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57650" y="26380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53.4%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84366" y="268247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53.1%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10585" y="26761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53.2%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83400" y="2847578"/>
            <a:ext cx="1066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52.1% (2026*)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90800" y="2193528"/>
            <a:ext cx="1710829" cy="2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2021년 이후 53% 안팎 정체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77900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04616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30835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57650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84366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10585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7400" y="5139928"/>
            <a:ext cx="558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2026*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57300" y="5330428"/>
            <a:ext cx="23762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전사 평균 재방문율(%), *2026년은 1~8월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86775" y="1968103"/>
            <a:ext cx="2889250" cy="1509911"/>
          </a:xfrm>
          <a:prstGeom prst="roundRect">
            <a:avLst>
              <a:gd name="adj" fmla="val 6519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8550" y="2174478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쿠폰할인 비중(매출 대비)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718550" y="2420838"/>
            <a:ext cx="249847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8.6% → 9.1%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8718550" y="2844998"/>
            <a:ext cx="24984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2021 → 2026, 멤버십 개편 후 계속 증가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86775" y="3636764"/>
            <a:ext cx="2889250" cy="1421011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18550" y="3843139"/>
            <a:ext cx="249847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클레임률(주문 1,000건당)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718550" y="4089499"/>
            <a:ext cx="24984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5.2~5.7건, 평평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718550" y="4460280"/>
            <a:ext cx="24984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건수 증가는 물량 증가 효과, 품질 저하 아님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483600" y="5213350"/>
            <a:ext cx="2982468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2023-06 멤버십 개편(EV-018, </a:t>
            </a:r>
            <a:r>
              <a:rPr lang="en-US" sz="1100" b="1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</a:t>
            </a:r>
            <a:r>
              <a:rPr lang="en-US" sz="11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) 후 쿠폰 지출은 계속 늘었지만 재방문율은 움직이지 않았다. 쿠폰 마케팅 ROI를 재점검해야 한다.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2800" y="6256040"/>
            <a:ext cx="263602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 · 사건로그 EV-018(확인)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036002" y="6256040"/>
            <a:ext cx="39399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STORE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부산·인천은 개선, 광주·제주는 악화 — 매장 간 양극화가 뚜렷하다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2800" y="151120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2025년 1~8월 대비 2026년 1~8월 영업이익률 변화(%p)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2050" y="24568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부산 서면점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08250" y="24257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7" name="Shape 5"/>
          <p:cNvSpPr/>
          <p:nvPr/>
        </p:nvSpPr>
        <p:spPr>
          <a:xfrm>
            <a:off x="6305550" y="24257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6318250" y="2425700"/>
            <a:ext cx="3352800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9" name="Text 7"/>
          <p:cNvSpPr/>
          <p:nvPr/>
        </p:nvSpPr>
        <p:spPr>
          <a:xfrm>
            <a:off x="10280650" y="24568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+3.5%p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2050" y="28505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인천 부평점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08250" y="28194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5550" y="28194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6318250" y="2819400"/>
            <a:ext cx="2333625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0650" y="28505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+2.4%p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62050" y="32442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대구 동성로점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08250" y="32131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5550" y="32131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18250" y="3213100"/>
            <a:ext cx="1876425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0650" y="32442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+2.0%p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2050" y="36379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서울 홍대점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08250" y="36068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5550" y="36068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18250" y="3606800"/>
            <a:ext cx="1438275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0650" y="36379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+1.5%p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2050" y="40316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수원 영통점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08250" y="40005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5550" y="40005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6318250" y="4000500"/>
            <a:ext cx="666750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0650" y="40316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+0.7%p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62050" y="44253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대전 둔산점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08250" y="43942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5550" y="43942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33" name="Shape 31"/>
          <p:cNvSpPr/>
          <p:nvPr/>
        </p:nvSpPr>
        <p:spPr>
          <a:xfrm>
            <a:off x="6318250" y="4394200"/>
            <a:ext cx="447675" cy="266700"/>
          </a:xfrm>
          <a:prstGeom prst="roundRect">
            <a:avLst>
              <a:gd name="adj" fmla="val 14286"/>
            </a:avLst>
          </a:prstGeom>
          <a:solidFill>
            <a:srgbClr val="2F6F62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0650" y="44253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+0.5%p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62050" y="48190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서울 강남점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08250" y="47879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5550" y="47879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38" name="Shape 36"/>
          <p:cNvSpPr/>
          <p:nvPr/>
        </p:nvSpPr>
        <p:spPr>
          <a:xfrm>
            <a:off x="6318250" y="4787900"/>
            <a:ext cx="238125" cy="266700"/>
          </a:xfrm>
          <a:prstGeom prst="roundRect">
            <a:avLst>
              <a:gd name="adj" fmla="val 16000"/>
            </a:avLst>
          </a:prstGeom>
          <a:solidFill>
            <a:srgbClr val="2F6F62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0650" y="48190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F6F6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+0.3%p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2050" y="52127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제주 연동점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08250" y="51816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5550" y="51816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43" name="Shape 41"/>
          <p:cNvSpPr/>
          <p:nvPr/>
        </p:nvSpPr>
        <p:spPr>
          <a:xfrm>
            <a:off x="5137150" y="5181600"/>
            <a:ext cx="1181100" cy="266700"/>
          </a:xfrm>
          <a:prstGeom prst="roundRect">
            <a:avLst>
              <a:gd name="adj" fmla="val 14286"/>
            </a:avLst>
          </a:prstGeom>
          <a:solidFill>
            <a:srgbClr val="C1440E"/>
          </a:solidFill>
          <a:ln/>
        </p:spPr>
      </p:sp>
      <p:sp>
        <p:nvSpPr>
          <p:cNvPr id="44" name="Text 42"/>
          <p:cNvSpPr/>
          <p:nvPr/>
        </p:nvSpPr>
        <p:spPr>
          <a:xfrm>
            <a:off x="10280650" y="52127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-1.2%p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62050" y="5606455"/>
            <a:ext cx="1193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광주 충장로점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508250" y="5575300"/>
            <a:ext cx="7620000" cy="266700"/>
          </a:xfrm>
          <a:prstGeom prst="roundRect">
            <a:avLst>
              <a:gd name="adj" fmla="val 14286"/>
            </a:avLst>
          </a:prstGeom>
          <a:solidFill>
            <a:srgbClr val="EFEADD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5550" y="5575300"/>
            <a:ext cx="25400" cy="266700"/>
          </a:xfrm>
          <a:prstGeom prst="rect">
            <a:avLst/>
          </a:prstGeom>
          <a:solidFill>
            <a:srgbClr val="C9C2AE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5525" y="5575300"/>
            <a:ext cx="2752725" cy="266700"/>
          </a:xfrm>
          <a:prstGeom prst="roundRect">
            <a:avLst>
              <a:gd name="adj" fmla="val 14286"/>
            </a:avLst>
          </a:prstGeom>
          <a:solidFill>
            <a:srgbClr val="C1440E"/>
          </a:solidFill>
          <a:ln/>
        </p:spPr>
      </p:sp>
      <p:sp>
        <p:nvSpPr>
          <p:cNvPr id="49" name="Text 47"/>
          <p:cNvSpPr/>
          <p:nvPr/>
        </p:nvSpPr>
        <p:spPr>
          <a:xfrm>
            <a:off x="10280650" y="5606455"/>
            <a:ext cx="749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-2.9%p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2800" y="6256040"/>
            <a:ext cx="30078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매출데이터, 매장별 동일 기간(1~8월) 비교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029454" y="6256040"/>
            <a:ext cx="40054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C1440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C2B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즉시 착수할 우선순위 액션 4가지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14401"/>
          <a:ext cx="10566400" cy="2615902"/>
        </p:xfrm>
        <a:graphic>
          <a:graphicData uri="http://schemas.openxmlformats.org/drawingml/2006/table">
            <a:tbl>
              <a:tblPr/>
              <a:tblGrid>
                <a:gridCol w="845312"/>
                <a:gridCol w="4437888"/>
                <a:gridCol w="1690624"/>
                <a:gridCol w="1796288"/>
                <a:gridCol w="1796288"/>
              </a:tblGrid>
              <a:tr h="5231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3E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순위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3E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액션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3E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대상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3E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기한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3E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근거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3"/>
                    </a:solidFill>
                  </a:tcPr>
                </a:tc>
              </a:tr>
              <a:tr h="5231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1440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SV 집중 관리 + 정규직 리텐션 인센티브 투입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광주 충장로점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1440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즉시 (2026 Q4)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Insight 02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1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1440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계절 성수기 대응형 인력 구조로 재설계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제주 연동점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2026 Q4 ~ 2027 Q1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Insight 03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</a:tr>
              <a:tr h="5231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1440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자사앱 마케팅·UX 투자 확대, 쿠폰 프로그램 ROI 재점검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전 매장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2027 Q1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Insight 04, 05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1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1440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정규직 전환 지원금 정책 효과 검증 후 전 매장 확대 검토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전 매장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상시 모니터링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Insight 01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1600" marR="101600" marT="139700" marB="139700" anchor="t">
                    <a:lnL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22403"/>
            <a:ext cx="915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1·2번은 사건로그로 원인이 확인된 매장 리스크, 3·4번은 확인된 채널·정책 효과를 전사로 확장하는 액션이다.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56040"/>
            <a:ext cx="15265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자료: 인사이트 1~5 종합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032728" y="6256040"/>
            <a:ext cx="39727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5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D97A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3536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6F3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5개 인사이트 중 4개는 사건로그로 확인, 1개는 추정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2800" y="3029148"/>
            <a:ext cx="49707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FD8D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확인된 리스크 · 즉시 대응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3374529"/>
            <a:ext cx="4970780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9D3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광주 충장로점 점주 승계 후 마진 붕괴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9D3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제주 연동점 반복 인력 이탈·위생 리스크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9D3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자사앱이 배달앱 수수료 인상을 상쇄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9D3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쿠폰 확대 대비 재방문율 정체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45200" y="3029148"/>
            <a:ext cx="5334000" cy="1320502"/>
          </a:xfrm>
          <a:prstGeom prst="roundRect">
            <a:avLst>
              <a:gd name="adj" fmla="val 7694"/>
            </a:avLst>
          </a:prstGeom>
          <a:solidFill>
            <a:srgbClr val="26363F"/>
          </a:solidFill>
          <a:ln/>
        </p:spPr>
      </p:sp>
      <p:sp>
        <p:nvSpPr>
          <p:cNvPr id="7" name="Text 5"/>
          <p:cNvSpPr/>
          <p:nvPr/>
        </p:nvSpPr>
        <p:spPr>
          <a:xfrm>
            <a:off x="6299200" y="3257748"/>
            <a:ext cx="49707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A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9200" y="3603129"/>
            <a:ext cx="497078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D9D3C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실습 3 · 온톨로지 기반 지식그래프로 확장 — 매장 · 인력 · 사건 · 메뉴 · 공급사의 관계를 연결해, 표로는 답하기 어려운 질문에 그래프로 답합니다.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5831880"/>
            <a:ext cx="12509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E92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감사합니다 · Q&amp;A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7563" y="5849640"/>
            <a:ext cx="45243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E92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피자 프랜차이즈 실적 분석 브리핑</dc:title>
  <dc:subject>PptxGenJS Presentation</dc:subject>
  <dc:creator>PptxGenJS</dc:creator>
  <cp:lastModifiedBy>PptxGenJS</cp:lastModifiedBy>
  <cp:revision>1</cp:revision>
  <dcterms:created xsi:type="dcterms:W3CDTF">2026-09-22T02:30:07Z</dcterms:created>
  <dcterms:modified xsi:type="dcterms:W3CDTF">2026-09-22T02:30:07Z</dcterms:modified>
</cp:coreProperties>
</file>